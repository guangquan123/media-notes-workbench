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  <Relationship Id="rId8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本页展示了将图片转换为可编辑 PPT 的五条主流技术路线。</a:t>
            </a:r>
          </a:p>
          <a:p>
            <a:endParaRPr lang="en-US" dirty="0"/>
          </a:p>
          <a:p>
            <a:r>
              <a:rPr lang="zh-CN" dirty="0"/>
              <a:t>左侧列出了五种前端演示工具：Anthropic pptx（原生可编辑PPTX）、Slidev（开发者演示）、frontend-slides（高视觉HTML）、Reveal.js（成熟Web演示）、html-ppt（主题化互动演示）。</a:t>
            </a:r>
          </a:p>
          <a:p>
            <a:endParaRPr lang="en-US" dirty="0"/>
          </a:p>
          <a:p>
            <a:r>
              <a:rPr lang="zh-CN" dirty="0"/>
              <a:t>右侧展示了核心转换流程：首先通过 GPT-image 2 生成视觉稿，然后进行 OCR 加版面理解和元素分层，最终实现 PPTX 原生对象重建。</a:t>
            </a:r>
          </a:p>
          <a:p>
            <a:endParaRPr lang="en-US" dirty="0"/>
          </a:p>
          <a:p>
            <a:r>
              <a:rPr lang="zh-CN" dirty="0"/>
              <a:t>核心观点：可编辑的本质是重建对象，而不是把整页图片放进 PPT。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 Type="http://schemas.openxmlformats.org/officeDocument/2006/relationships/notesSlide" Target="../notesSlides/notes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2650324" y="325755"/>
            <a:ext cx="6891353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600" b="1" dirty="0">
                <a:solidFill>
                  <a:srgbClr val="1B2A4A"/>
                </a:solidFill>
                <a:latin typeface="Segoe UI"/>
                <a:ea typeface="Microsoft YaHei"/>
                <a:cs typeface="Segoe UI"/>
              </a:rPr>
              <a:t>PPT 生成 Skill: 五条主流路线</a:t>
            </a:r>
          </a:p>
        </p:txBody>
      </p:sp>
      <p:sp>
        <p:nvSpPr>
          <p:cNvPr id="4" name="Line 4"/>
          <p:cNvSpPr/>
          <p:nvPr/>
        </p:nvSpPr>
        <p:spPr>
          <a:xfrm>
            <a:off x="1714500" y="1000125"/>
            <a:ext cx="8763000" cy="9525"/>
          </a:xfrm>
          <a:custGeom>
            <a:avLst/>
            <a:gdLst/>
            <a:ahLst/>
            <a:cxnLst/>
            <a:rect l="l" t="t" r="r" b="b"/>
            <a:pathLst>
              <a:path w="8763000" h="9525">
                <a:moveTo>
                  <a:pt x="0" y="0"/>
                </a:moveTo>
                <a:lnTo>
                  <a:pt x="8763000" y="0"/>
                </a:lnTo>
              </a:path>
            </a:pathLst>
          </a:custGeom>
          <a:noFill/>
          <a:ln w="28575">
            <a:solidFill>
              <a:srgbClr val="1B2A4A"/>
            </a:solidFill>
          </a:ln>
        </p:spPr>
      </p:sp>
      <p:sp>
        <p:nvSpPr>
          <p:cNvPr id="5" name="Line 5"/>
          <p:cNvSpPr/>
          <p:nvPr/>
        </p:nvSpPr>
        <p:spPr>
          <a:xfrm>
            <a:off x="1714500" y="1000125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47625">
            <a:solidFill>
              <a:srgbClr val="E8734A"/>
            </a:solidFill>
          </a:ln>
        </p:spPr>
      </p:sp>
      <p:sp>
        <p:nvSpPr>
          <p:cNvPr id="6" name="Line 6"/>
          <p:cNvSpPr/>
          <p:nvPr/>
        </p:nvSpPr>
        <p:spPr>
          <a:xfrm>
            <a:off x="9906000" y="1000125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47625">
            <a:solidFill>
              <a:srgbClr val="2A9D8F"/>
            </a:solidFill>
          </a:ln>
        </p:spPr>
      </p:sp>
      <p:grpSp>
        <p:nvGrpSpPr>
          <p:cNvPr id="14" name="Group 14"/>
          <p:cNvGrpSpPr/>
          <p:nvPr/>
        </p:nvGrpSpPr>
        <p:grpSpPr>
          <a:xfrm>
            <a:off x="381000" y="1238250"/>
            <a:ext cx="3619500" cy="762000"/>
            <a:chOff x="381000" y="1238250"/>
            <a:chExt cx="3619500" cy="762000"/>
          </a:xfrm>
        </p:grpSpPr>
        <p:sp>
          <p:nvSpPr>
            <p:cNvPr id="7" name="Rectangle 7"/>
            <p:cNvSpPr/>
            <p:nvPr/>
          </p:nvSpPr>
          <p:spPr>
            <a:xfrm>
              <a:off x="381000" y="1238250"/>
              <a:ext cx="36195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E0DCD4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495300" y="1352550"/>
              <a:ext cx="533400" cy="533400"/>
            </a:xfrm>
            <a:prstGeom prst="roundRect">
              <a:avLst>
                <a:gd name="adj" fmla="val 10714"/>
              </a:avLst>
            </a:prstGeom>
            <a:solidFill>
              <a:srgbClr val="1B2A4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90550" y="1409700"/>
              <a:ext cx="228600" cy="285750"/>
            </a:xfrm>
            <a:prstGeom prst="roundRect">
              <a:avLst>
                <a:gd name="adj" fmla="val 8333"/>
              </a:avLst>
            </a:prstGeom>
            <a:noFill/>
            <a:ln w="19050">
              <a:solidFill>
                <a:srgbClr val="FFFFFF"/>
              </a:solidFill>
            </a:ln>
          </p:spPr>
        </p:sp>
        <p:sp>
          <p:nvSpPr>
            <p:cNvPr id="10" name="Polygon 10"/>
            <p:cNvSpPr/>
            <p:nvPr/>
          </p:nvSpPr>
          <p:spPr>
            <a:xfrm>
              <a:off x="704850" y="14097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114300" y="0"/>
                  </a:moveTo>
                  <a:lnTo>
                    <a:pt x="114300" y="114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76872" y="1538288"/>
              <a:ext cx="255956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PPTX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71956" y="1405890"/>
              <a:ext cx="18581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B2A4A"/>
                  </a:solidFill>
                  <a:latin typeface="Segoe UI"/>
                  <a:ea typeface="Segoe UI"/>
                  <a:cs typeface="Segoe UI"/>
                </a:rPr>
                <a:t>Anthropic pptx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5004" y="1699260"/>
              <a:ext cx="1292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734A"/>
                  </a:solidFill>
                  <a:latin typeface="Segoe UI"/>
                  <a:ea typeface="Microsoft YaHei"/>
                  <a:cs typeface="Segoe UI"/>
                </a:rPr>
                <a:t>原生可编辑 PPTX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81000" y="2095500"/>
            <a:ext cx="3619500" cy="762000"/>
            <a:chOff x="381000" y="2095500"/>
            <a:chExt cx="3619500" cy="762000"/>
          </a:xfrm>
        </p:grpSpPr>
        <p:sp>
          <p:nvSpPr>
            <p:cNvPr id="15" name="Rectangle 15"/>
            <p:cNvSpPr/>
            <p:nvPr/>
          </p:nvSpPr>
          <p:spPr>
            <a:xfrm>
              <a:off x="381000" y="2095500"/>
              <a:ext cx="36195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E0DCD4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495300" y="2209800"/>
              <a:ext cx="533400" cy="533400"/>
            </a:xfrm>
            <a:prstGeom prst="roundRect">
              <a:avLst>
                <a:gd name="adj" fmla="val 10714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06441" y="2326005"/>
              <a:ext cx="5111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&lt;/&gt;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71956" y="2263140"/>
              <a:ext cx="73741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B2A4A"/>
                  </a:solidFill>
                  <a:latin typeface="Segoe UI"/>
                  <a:ea typeface="Segoe UI"/>
                  <a:cs typeface="Segoe UI"/>
                </a:rPr>
                <a:t>Slidev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75004" y="25565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A9D8F"/>
                  </a:solidFill>
                  <a:latin typeface="Segoe UI"/>
                  <a:ea typeface="Microsoft YaHei"/>
                  <a:cs typeface="Segoe UI"/>
                </a:rPr>
                <a:t>开发者演示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81000" y="2952750"/>
            <a:ext cx="3619500" cy="762000"/>
            <a:chOff x="381000" y="2952750"/>
            <a:chExt cx="3619500" cy="762000"/>
          </a:xfrm>
        </p:grpSpPr>
        <p:sp>
          <p:nvSpPr>
            <p:cNvPr id="21" name="Rectangle 21"/>
            <p:cNvSpPr/>
            <p:nvPr/>
          </p:nvSpPr>
          <p:spPr>
            <a:xfrm>
              <a:off x="381000" y="2952750"/>
              <a:ext cx="36195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E0DCD4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95300" y="3067050"/>
              <a:ext cx="533400" cy="533400"/>
            </a:xfrm>
            <a:prstGeom prst="roundRect">
              <a:avLst>
                <a:gd name="adj" fmla="val 10714"/>
              </a:avLst>
            </a:prstGeom>
            <a:solidFill>
              <a:srgbClr val="E8734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90550" y="3162300"/>
              <a:ext cx="342900" cy="266700"/>
            </a:xfrm>
            <a:prstGeom prst="roundRect">
              <a:avLst>
                <a:gd name="adj" fmla="val 10714"/>
              </a:avLst>
            </a:prstGeom>
            <a:noFill/>
            <a:ln w="19050">
              <a:solidFill>
                <a:srgbClr val="FFFFFF"/>
              </a:solidFill>
            </a:ln>
          </p:spPr>
        </p:sp>
        <p:sp>
          <p:nvSpPr>
            <p:cNvPr id="24" name="Ellipse 24"/>
            <p:cNvSpPr/>
            <p:nvPr/>
          </p:nvSpPr>
          <p:spPr>
            <a:xfrm>
              <a:off x="647700" y="3219450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Polyline 25"/>
            <p:cNvSpPr/>
            <p:nvPr/>
          </p:nvSpPr>
          <p:spPr>
            <a:xfrm>
              <a:off x="590550" y="3219450"/>
              <a:ext cx="342900" cy="171450"/>
            </a:xfrm>
            <a:custGeom>
              <a:avLst/>
              <a:gdLst/>
              <a:ahLst/>
              <a:cxnLst/>
              <a:rect l="l" t="t" r="r" b="b"/>
              <a:pathLst>
                <a:path w="342900" h="171450">
                  <a:moveTo>
                    <a:pt x="0" y="171450"/>
                  </a:moveTo>
                  <a:lnTo>
                    <a:pt x="114300" y="76200"/>
                  </a:lnTo>
                  <a:lnTo>
                    <a:pt x="190500" y="133350"/>
                  </a:lnTo>
                  <a:lnTo>
                    <a:pt x="3429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171956" y="3120390"/>
              <a:ext cx="19901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B2A4A"/>
                  </a:solidFill>
                  <a:latin typeface="Segoe UI"/>
                  <a:ea typeface="Segoe UI"/>
                  <a:cs typeface="Segoe UI"/>
                </a:rPr>
                <a:t>frontend-slides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75004" y="3413760"/>
              <a:ext cx="9851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734A"/>
                  </a:solidFill>
                  <a:latin typeface="Segoe UI"/>
                  <a:ea typeface="Microsoft YaHei"/>
                  <a:cs typeface="Segoe UI"/>
                </a:rPr>
                <a:t>高视觉 HTML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81000" y="3810000"/>
            <a:ext cx="3619500" cy="762000"/>
            <a:chOff x="381000" y="3810000"/>
            <a:chExt cx="3619500" cy="762000"/>
          </a:xfrm>
        </p:grpSpPr>
        <p:sp>
          <p:nvSpPr>
            <p:cNvPr id="29" name="Rectangle 29"/>
            <p:cNvSpPr/>
            <p:nvPr/>
          </p:nvSpPr>
          <p:spPr>
            <a:xfrm>
              <a:off x="381000" y="3810000"/>
              <a:ext cx="36195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E0DCD4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495300" y="3924300"/>
              <a:ext cx="533400" cy="533400"/>
            </a:xfrm>
            <a:prstGeom prst="roundRect">
              <a:avLst>
                <a:gd name="adj" fmla="val 10714"/>
              </a:avLst>
            </a:prstGeom>
            <a:solidFill>
              <a:srgbClr val="1B2A4A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71500" y="4019550"/>
              <a:ext cx="381000" cy="266700"/>
            </a:xfrm>
            <a:prstGeom prst="roundRect">
              <a:avLst>
                <a:gd name="adj" fmla="val 7143"/>
              </a:avLst>
            </a:prstGeom>
            <a:noFill/>
            <a:ln w="19050">
              <a:solidFill>
                <a:srgbClr val="FFFFFF"/>
              </a:solidFill>
            </a:ln>
          </p:spPr>
        </p:sp>
        <p:sp>
          <p:nvSpPr>
            <p:cNvPr id="32" name="Polygon 32"/>
            <p:cNvSpPr/>
            <p:nvPr/>
          </p:nvSpPr>
          <p:spPr>
            <a:xfrm>
              <a:off x="723900" y="40957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0" y="0"/>
                  </a:moveTo>
                  <a:lnTo>
                    <a:pt x="0" y="133350"/>
                  </a:lnTo>
                  <a:lnTo>
                    <a:pt x="114300" y="66675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3" name="Line 33"/>
            <p:cNvSpPr/>
            <p:nvPr/>
          </p:nvSpPr>
          <p:spPr>
            <a:xfrm>
              <a:off x="571500" y="42862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71956" y="3977640"/>
              <a:ext cx="11585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B2A4A"/>
                  </a:solidFill>
                  <a:latin typeface="Segoe UI"/>
                  <a:ea typeface="Segoe UI"/>
                  <a:cs typeface="Segoe UI"/>
                </a:rPr>
                <a:t>Reveal.js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75004" y="4271010"/>
              <a:ext cx="10738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A9D8F"/>
                  </a:solidFill>
                  <a:latin typeface="Segoe UI"/>
                  <a:ea typeface="Microsoft YaHei"/>
                  <a:cs typeface="Segoe UI"/>
                </a:rPr>
                <a:t>成熟 Web 演示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381000" y="4667250"/>
            <a:ext cx="3619500" cy="762000"/>
            <a:chOff x="381000" y="4667250"/>
            <a:chExt cx="3619500" cy="762000"/>
          </a:xfrm>
        </p:grpSpPr>
        <p:sp>
          <p:nvSpPr>
            <p:cNvPr id="37" name="Rectangle 37"/>
            <p:cNvSpPr/>
            <p:nvPr/>
          </p:nvSpPr>
          <p:spPr>
            <a:xfrm>
              <a:off x="381000" y="4667250"/>
              <a:ext cx="36195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14288">
              <a:solidFill>
                <a:srgbClr val="E0DCD4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95300" y="4781550"/>
              <a:ext cx="533400" cy="533400"/>
            </a:xfrm>
            <a:prstGeom prst="roundRect">
              <a:avLst>
                <a:gd name="adj" fmla="val 10714"/>
              </a:avLst>
            </a:prstGeom>
            <a:solidFill>
              <a:srgbClr val="E8A838"/>
            </a:solidFill>
            <a:ln>
              <a:noFill/>
            </a:ln>
          </p:spPr>
        </p:sp>
        <p:sp>
          <p:nvSpPr>
            <p:cNvPr id="39" name="Freeform 39"/>
            <p:cNvSpPr/>
            <p:nvPr/>
          </p:nvSpPr>
          <p:spPr>
            <a:xfrm>
              <a:off x="647700" y="4857750"/>
              <a:ext cx="114300" cy="190500"/>
            </a:xfrm>
            <a:custGeom>
              <a:avLst/>
              <a:gdLst/>
              <a:ahLst/>
              <a:cxnLst/>
              <a:rect l="l" t="t" r="r" b="b"/>
              <a:pathLst>
                <a:path w="114300" h="190500">
                  <a:moveTo>
                    <a:pt x="57150" y="0"/>
                  </a:moveTo>
                  <a:lnTo>
                    <a:pt x="57150" y="171450"/>
                  </a:lnTo>
                  <a:moveTo>
                    <a:pt x="0" y="76200"/>
                  </a:moveTo>
                  <a:lnTo>
                    <a:pt x="57150" y="19050"/>
                  </a:lnTo>
                  <a:lnTo>
                    <a:pt x="114300" y="76200"/>
                  </a:lnTo>
                  <a:moveTo>
                    <a:pt x="0" y="133350"/>
                  </a:moveTo>
                  <a:cubicBezTo>
                    <a:pt x="0" y="133350"/>
                    <a:pt x="57150" y="190500"/>
                    <a:pt x="114300" y="133350"/>
                  </a:cubicBezTo>
                </a:path>
              </a:pathLst>
            </a:custGeom>
            <a:noFill/>
            <a:ln w="23812" cap="rnd">
              <a:solidFill>
                <a:srgbClr val="FFFFFF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676275" y="482917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71956" y="4834890"/>
              <a:ext cx="112506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1B2A4A"/>
                  </a:solidFill>
                  <a:latin typeface="Segoe UI"/>
                  <a:ea typeface="Segoe UI"/>
                  <a:cs typeface="Segoe UI"/>
                </a:rPr>
                <a:t>html-ppt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75004" y="51282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E8734A"/>
                  </a:solidFill>
                  <a:latin typeface="Segoe UI"/>
                  <a:ea typeface="Microsoft YaHei"/>
                  <a:cs typeface="Segoe UI"/>
                </a:rPr>
                <a:t>主题化互动演示</a:t>
              </a:r>
            </a:p>
          </p:txBody>
        </p:sp>
      </p:grpSp>
      <p:sp>
        <p:nvSpPr>
          <p:cNvPr id="44" name="Line 44"/>
          <p:cNvSpPr/>
          <p:nvPr/>
        </p:nvSpPr>
        <p:spPr>
          <a:xfrm>
            <a:off x="4000500" y="1619250"/>
            <a:ext cx="952500" cy="1333500"/>
          </a:xfrm>
          <a:custGeom>
            <a:avLst/>
            <a:gdLst/>
            <a:ahLst/>
            <a:cxnLst/>
            <a:rect l="l" t="t" r="r" b="b"/>
            <a:pathLst>
              <a:path w="952500" h="1333500">
                <a:moveTo>
                  <a:pt x="0" y="0"/>
                </a:moveTo>
                <a:lnTo>
                  <a:pt x="952500" y="1333500"/>
                </a:lnTo>
              </a:path>
            </a:pathLst>
          </a:custGeom>
          <a:noFill/>
          <a:ln w="19050">
            <a:solidFill>
              <a:srgbClr val="1B2A4A">
                <a:alpha val="70000"/>
              </a:srgbClr>
            </a:solidFill>
            <a:custDash>
              <a:ds d="400000" sp="300000"/>
            </a:custDash>
          </a:ln>
        </p:spPr>
      </p:sp>
      <p:sp>
        <p:nvSpPr>
          <p:cNvPr id="45" name="Line 45"/>
          <p:cNvSpPr/>
          <p:nvPr/>
        </p:nvSpPr>
        <p:spPr>
          <a:xfrm>
            <a:off x="4000500" y="2476500"/>
            <a:ext cx="952500" cy="476250"/>
          </a:xfrm>
          <a:custGeom>
            <a:avLst/>
            <a:gdLst/>
            <a:ahLst/>
            <a:cxnLst/>
            <a:rect l="l" t="t" r="r" b="b"/>
            <a:pathLst>
              <a:path w="952500" h="476250">
                <a:moveTo>
                  <a:pt x="0" y="0"/>
                </a:moveTo>
                <a:lnTo>
                  <a:pt x="952500" y="476250"/>
                </a:lnTo>
              </a:path>
            </a:pathLst>
          </a:custGeom>
          <a:noFill/>
          <a:ln w="19050">
            <a:solidFill>
              <a:srgbClr val="2A9D8F">
                <a:alpha val="70000"/>
              </a:srgbClr>
            </a:solidFill>
            <a:custDash>
              <a:ds d="400000" sp="300000"/>
            </a:custDash>
          </a:ln>
        </p:spPr>
      </p:sp>
      <p:sp>
        <p:nvSpPr>
          <p:cNvPr id="46" name="Line 46"/>
          <p:cNvSpPr/>
          <p:nvPr/>
        </p:nvSpPr>
        <p:spPr>
          <a:xfrm>
            <a:off x="4000500" y="2952750"/>
            <a:ext cx="952500" cy="381000"/>
          </a:xfrm>
          <a:custGeom>
            <a:avLst/>
            <a:gdLst/>
            <a:ahLst/>
            <a:cxnLst/>
            <a:rect l="l" t="t" r="r" b="b"/>
            <a:pathLst>
              <a:path w="952500" h="381000">
                <a:moveTo>
                  <a:pt x="0" y="38100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E8734A">
                <a:alpha val="70000"/>
              </a:srgbClr>
            </a:solidFill>
            <a:custDash>
              <a:ds d="400000" sp="300000"/>
            </a:custDash>
          </a:ln>
        </p:spPr>
      </p:sp>
      <p:sp>
        <p:nvSpPr>
          <p:cNvPr id="47" name="Line 47"/>
          <p:cNvSpPr/>
          <p:nvPr/>
        </p:nvSpPr>
        <p:spPr>
          <a:xfrm>
            <a:off x="4000500" y="2952750"/>
            <a:ext cx="952500" cy="1238250"/>
          </a:xfrm>
          <a:custGeom>
            <a:avLst/>
            <a:gdLst/>
            <a:ahLst/>
            <a:cxnLst/>
            <a:rect l="l" t="t" r="r" b="b"/>
            <a:pathLst>
              <a:path w="952500" h="1238250">
                <a:moveTo>
                  <a:pt x="0" y="123825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2A9D8F">
                <a:alpha val="70000"/>
              </a:srgbClr>
            </a:solidFill>
            <a:custDash>
              <a:ds d="400000" sp="300000"/>
            </a:custDash>
          </a:ln>
        </p:spPr>
      </p:sp>
      <p:sp>
        <p:nvSpPr>
          <p:cNvPr id="48" name="Line 48"/>
          <p:cNvSpPr/>
          <p:nvPr/>
        </p:nvSpPr>
        <p:spPr>
          <a:xfrm>
            <a:off x="4000500" y="2952750"/>
            <a:ext cx="952500" cy="2095500"/>
          </a:xfrm>
          <a:custGeom>
            <a:avLst/>
            <a:gdLst/>
            <a:ahLst/>
            <a:cxnLst/>
            <a:rect l="l" t="t" r="r" b="b"/>
            <a:pathLst>
              <a:path w="952500" h="2095500">
                <a:moveTo>
                  <a:pt x="0" y="2095500"/>
                </a:moveTo>
                <a:lnTo>
                  <a:pt x="952500" y="0"/>
                </a:lnTo>
              </a:path>
            </a:pathLst>
          </a:custGeom>
          <a:noFill/>
          <a:ln w="19050">
            <a:solidFill>
              <a:srgbClr val="E8A838">
                <a:alpha val="70000"/>
              </a:srgbClr>
            </a:solidFill>
            <a:custDash>
              <a:ds d="400000" sp="300000"/>
            </a:custDash>
          </a:ln>
        </p:spPr>
      </p:sp>
      <p:grpSp>
        <p:nvGrpSpPr>
          <p:cNvPr id="50" name="Group 50"/>
          <p:cNvGrpSpPr/>
          <p:nvPr/>
        </p:nvGrpSpPr>
        <p:grpSpPr>
          <a:xfrm>
            <a:off x="4953000" y="2667000"/>
            <a:ext cx="1238250" cy="857250"/>
            <a:chOff x="4953000" y="2667000"/>
            <a:chExt cx="1238250" cy="857250"/>
          </a:xfrm>
        </p:grpSpPr>
        <p:sp>
          <p:nvSpPr>
            <p:cNvPr id="49" name="Freeform 49"/>
            <p:cNvSpPr/>
            <p:nvPr/>
          </p:nvSpPr>
          <p:spPr>
            <a:xfrm>
              <a:off x="4953000" y="2667000"/>
              <a:ext cx="1238250" cy="857250"/>
            </a:xfrm>
            <a:custGeom>
              <a:avLst/>
              <a:gdLst/>
              <a:ahLst/>
              <a:cxnLst/>
              <a:rect l="l" t="t" r="r" b="b"/>
              <a:pathLst>
                <a:path w="1238250" h="857250">
                  <a:moveTo>
                    <a:pt x="0" y="285750"/>
                  </a:moveTo>
                  <a:lnTo>
                    <a:pt x="762000" y="285750"/>
                  </a:lnTo>
                  <a:lnTo>
                    <a:pt x="762000" y="0"/>
                  </a:lnTo>
                  <a:lnTo>
                    <a:pt x="1238250" y="428625"/>
                  </a:lnTo>
                  <a:lnTo>
                    <a:pt x="762000" y="857250"/>
                  </a:lnTo>
                  <a:lnTo>
                    <a:pt x="762000" y="571500"/>
                  </a:lnTo>
                  <a:lnTo>
                    <a:pt x="0" y="571500"/>
                  </a:lnTo>
                  <a:close/>
                </a:path>
              </a:pathLst>
            </a:custGeom>
            <a:solidFill>
              <a:srgbClr val="1B2A4A"/>
            </a:solidFill>
            <a:ln>
              <a:noFill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6858000" y="1476375"/>
            <a:ext cx="4953000" cy="762000"/>
            <a:chOff x="6858000" y="1476375"/>
            <a:chExt cx="4953000" cy="762000"/>
          </a:xfrm>
        </p:grpSpPr>
        <p:sp>
          <p:nvSpPr>
            <p:cNvPr id="51" name="Rectangle 51"/>
            <p:cNvSpPr/>
            <p:nvPr/>
          </p:nvSpPr>
          <p:spPr>
            <a:xfrm>
              <a:off x="6858000" y="1476375"/>
              <a:ext cx="49530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23812">
              <a:solidFill>
                <a:srgbClr val="1B2A4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010400" y="1628775"/>
              <a:ext cx="457200" cy="457200"/>
            </a:xfrm>
            <a:prstGeom prst="roundRect">
              <a:avLst>
                <a:gd name="adj" fmla="val 12500"/>
              </a:avLst>
            </a:prstGeom>
            <a:solidFill>
              <a:srgbClr val="1B2A4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086600" y="1704975"/>
              <a:ext cx="304800" cy="228600"/>
            </a:xfrm>
            <a:prstGeom prst="roundRect">
              <a:avLst>
                <a:gd name="adj" fmla="val 12500"/>
              </a:avLst>
            </a:prstGeom>
            <a:noFill/>
            <a:ln w="19050">
              <a:solidFill>
                <a:srgbClr val="FFFFFF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7153275" y="175260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5" name="Polyline 55"/>
            <p:cNvSpPr/>
            <p:nvPr/>
          </p:nvSpPr>
          <p:spPr>
            <a:xfrm>
              <a:off x="7086600" y="1743075"/>
              <a:ext cx="304800" cy="152400"/>
            </a:xfrm>
            <a:custGeom>
              <a:avLst/>
              <a:gdLst/>
              <a:ahLst/>
              <a:cxnLst/>
              <a:rect l="l" t="t" r="r" b="b"/>
              <a:pathLst>
                <a:path w="304800" h="152400">
                  <a:moveTo>
                    <a:pt x="0" y="152400"/>
                  </a:moveTo>
                  <a:lnTo>
                    <a:pt x="114300" y="57150"/>
                  </a:lnTo>
                  <a:lnTo>
                    <a:pt x="190500" y="114300"/>
                  </a:ln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611618" y="1736408"/>
              <a:ext cx="264865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B2A4A"/>
                  </a:solidFill>
                  <a:latin typeface="Segoe UI"/>
                  <a:ea typeface="Microsoft YaHei"/>
                  <a:cs typeface="Segoe UI"/>
                </a:rPr>
                <a:t>GPT-image 2 生成视觉稿</a:t>
              </a:r>
            </a:p>
          </p:txBody>
        </p:sp>
      </p:grpSp>
      <p:sp>
        <p:nvSpPr>
          <p:cNvPr id="58" name="Line 58"/>
          <p:cNvSpPr/>
          <p:nvPr/>
        </p:nvSpPr>
        <p:spPr>
          <a:xfrm>
            <a:off x="9334500" y="2238375"/>
            <a:ext cx="1" cy="381000"/>
          </a:xfrm>
          <a:prstGeom prst="line">
            <a:avLst/>
          </a:prstGeom>
          <a:noFill/>
          <a:ln w="28575">
            <a:solidFill>
              <a:srgbClr val="1B2A4A"/>
            </a:solidFill>
            <a:tailEnd type="triangle" w="lg" len="lg"/>
          </a:ln>
        </p:spPr>
      </p:sp>
      <p:grpSp>
        <p:nvGrpSpPr>
          <p:cNvPr id="68" name="Group 68"/>
          <p:cNvGrpSpPr/>
          <p:nvPr/>
        </p:nvGrpSpPr>
        <p:grpSpPr>
          <a:xfrm>
            <a:off x="6858000" y="2809875"/>
            <a:ext cx="4953000" cy="762000"/>
            <a:chOff x="6858000" y="2809875"/>
            <a:chExt cx="4953000" cy="762000"/>
          </a:xfrm>
        </p:grpSpPr>
        <p:sp>
          <p:nvSpPr>
            <p:cNvPr id="59" name="Rectangle 59"/>
            <p:cNvSpPr/>
            <p:nvPr/>
          </p:nvSpPr>
          <p:spPr>
            <a:xfrm>
              <a:off x="6858000" y="2809875"/>
              <a:ext cx="4953000" cy="762000"/>
            </a:xfrm>
            <a:prstGeom prst="roundRect">
              <a:avLst>
                <a:gd name="adj" fmla="val 7500"/>
              </a:avLst>
            </a:prstGeom>
            <a:solidFill>
              <a:srgbClr val="E8F5F3"/>
            </a:solidFill>
            <a:ln w="23812">
              <a:solidFill>
                <a:srgbClr val="2A9D8F"/>
              </a:solidFill>
            </a:ln>
          </p:spPr>
        </p:sp>
        <p:sp>
          <p:nvSpPr>
            <p:cNvPr id="60" name="Rectangle 60"/>
            <p:cNvSpPr/>
            <p:nvPr/>
          </p:nvSpPr>
          <p:spPr>
            <a:xfrm>
              <a:off x="7010400" y="2962275"/>
              <a:ext cx="457200" cy="457200"/>
            </a:xfrm>
            <a:prstGeom prst="roundRect">
              <a:avLst>
                <a:gd name="adj" fmla="val 12500"/>
              </a:avLst>
            </a:prstGeom>
            <a:solidFill>
              <a:srgbClr val="2A9D8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7086600" y="3019425"/>
              <a:ext cx="266700" cy="323850"/>
            </a:xfrm>
            <a:prstGeom prst="roundRect">
              <a:avLst>
                <a:gd name="adj" fmla="val 7143"/>
              </a:avLst>
            </a:prstGeom>
            <a:noFill/>
            <a:ln w="19050">
              <a:solidFill>
                <a:srgbClr val="FFFFFF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7143750" y="3095625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7143750" y="3171825"/>
              <a:ext cx="152400" cy="9525"/>
            </a:xfrm>
            <a:custGeom>
              <a:avLst/>
              <a:gdLst/>
              <a:ahLst/>
              <a:cxnLst/>
              <a:rect l="l" t="t" r="r" b="b"/>
              <a:pathLst>
                <a:path w="152400" h="9525">
                  <a:moveTo>
                    <a:pt x="0" y="0"/>
                  </a:moveTo>
                  <a:lnTo>
                    <a:pt x="1524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7143750" y="3248025"/>
              <a:ext cx="95250" cy="9525"/>
            </a:xfrm>
            <a:custGeom>
              <a:avLst/>
              <a:gdLst/>
              <a:ahLst/>
              <a:cxnLst/>
              <a:rect l="l" t="t" r="r" b="b"/>
              <a:pathLst>
                <a:path w="95250" h="9525">
                  <a:moveTo>
                    <a:pt x="0" y="0"/>
                  </a:moveTo>
                  <a:lnTo>
                    <a:pt x="9525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65" name="Ellipse 65"/>
            <p:cNvSpPr/>
            <p:nvPr/>
          </p:nvSpPr>
          <p:spPr>
            <a:xfrm>
              <a:off x="7239000" y="3190875"/>
              <a:ext cx="152400" cy="152400"/>
            </a:xfrm>
            <a:prstGeom prst="ellipse">
              <a:avLst/>
            </a:prstGeom>
            <a:solidFill>
              <a:srgbClr val="2A9D8F"/>
            </a:solidFill>
            <a:ln w="19050">
              <a:solidFill>
                <a:srgbClr val="FFFFFF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7372350" y="3324225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0" y="0"/>
                  </a:moveTo>
                  <a:lnTo>
                    <a:pt x="57150" y="57150"/>
                  </a:lnTo>
                </a:path>
              </a:pathLst>
            </a:custGeom>
            <a:noFill/>
            <a:ln w="23812">
              <a:solidFill>
                <a:srgbClr val="FFFFFF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7611618" y="3069908"/>
              <a:ext cx="301089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2A9D8F"/>
                  </a:solidFill>
                  <a:latin typeface="Segoe UI"/>
                  <a:ea typeface="Microsoft YaHei"/>
                  <a:cs typeface="Segoe UI"/>
                </a:rPr>
                <a:t>OCR + 版面理解 + 元素分层</a:t>
              </a:r>
            </a:p>
          </p:txBody>
        </p:sp>
      </p:grpSp>
      <p:sp>
        <p:nvSpPr>
          <p:cNvPr id="69" name="Line 69"/>
          <p:cNvSpPr/>
          <p:nvPr/>
        </p:nvSpPr>
        <p:spPr>
          <a:xfrm>
            <a:off x="9334500" y="3571875"/>
            <a:ext cx="1" cy="381000"/>
          </a:xfrm>
          <a:prstGeom prst="line">
            <a:avLst/>
          </a:prstGeom>
          <a:noFill/>
          <a:ln w="28575">
            <a:solidFill>
              <a:srgbClr val="1B2A4A"/>
            </a:solidFill>
            <a:tailEnd type="triangle" w="lg" len="lg"/>
          </a:ln>
        </p:spPr>
      </p:sp>
      <p:grpSp>
        <p:nvGrpSpPr>
          <p:cNvPr id="77" name="Group 77"/>
          <p:cNvGrpSpPr/>
          <p:nvPr/>
        </p:nvGrpSpPr>
        <p:grpSpPr>
          <a:xfrm>
            <a:off x="6858000" y="4143375"/>
            <a:ext cx="4953000" cy="762000"/>
            <a:chOff x="6858000" y="4143375"/>
            <a:chExt cx="4953000" cy="762000"/>
          </a:xfrm>
        </p:grpSpPr>
        <p:sp>
          <p:nvSpPr>
            <p:cNvPr id="70" name="Rectangle 70"/>
            <p:cNvSpPr/>
            <p:nvPr/>
          </p:nvSpPr>
          <p:spPr>
            <a:xfrm>
              <a:off x="6858000" y="4143375"/>
              <a:ext cx="4953000" cy="762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23812">
              <a:solidFill>
                <a:srgbClr val="E8734A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7010400" y="4295775"/>
              <a:ext cx="457200" cy="457200"/>
            </a:xfrm>
            <a:prstGeom prst="roundRect">
              <a:avLst>
                <a:gd name="adj" fmla="val 12500"/>
              </a:avLst>
            </a:prstGeom>
            <a:solidFill>
              <a:srgbClr val="E8734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7086600" y="4352925"/>
              <a:ext cx="304800" cy="266700"/>
            </a:xfrm>
            <a:prstGeom prst="roundRect">
              <a:avLst>
                <a:gd name="adj" fmla="val 7143"/>
              </a:avLst>
            </a:prstGeom>
            <a:noFill/>
            <a:ln w="19050">
              <a:solidFill>
                <a:srgbClr val="FFFFFF"/>
              </a:solidFill>
            </a:ln>
          </p:spPr>
        </p:sp>
        <p:sp>
          <p:nvSpPr>
            <p:cNvPr id="73" name="Polygon 73"/>
            <p:cNvSpPr/>
            <p:nvPr/>
          </p:nvSpPr>
          <p:spPr>
            <a:xfrm>
              <a:off x="7181850" y="44291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0"/>
                  </a:moveTo>
                  <a:lnTo>
                    <a:pt x="0" y="114300"/>
                  </a:lnTo>
                  <a:lnTo>
                    <a:pt x="95250" y="5715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74" name="Line 74"/>
            <p:cNvSpPr/>
            <p:nvPr/>
          </p:nvSpPr>
          <p:spPr>
            <a:xfrm>
              <a:off x="7086600" y="4619625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298684" y="4614862"/>
              <a:ext cx="71133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750" b="1" dirty="0">
                  <a:solidFill>
                    <a:srgbClr val="FFFFFF"/>
                  </a:solidFill>
                  <a:latin typeface="Arial"/>
                  <a:ea typeface="Arial"/>
                  <a:cs typeface="Arial"/>
                </a:rPr>
                <a:t>P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7611618" y="4403408"/>
              <a:ext cx="211142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8734A"/>
                  </a:solidFill>
                  <a:latin typeface="Segoe UI"/>
                  <a:ea typeface="Microsoft YaHei"/>
                  <a:cs typeface="Segoe UI"/>
                </a:rPr>
                <a:t>PPTX 原生对象重建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0" y="6096000"/>
            <a:ext cx="12192000" cy="571500"/>
            <a:chOff x="0" y="6096000"/>
            <a:chExt cx="12192000" cy="571500"/>
          </a:xfrm>
        </p:grpSpPr>
        <p:sp>
          <p:nvSpPr>
            <p:cNvPr id="78" name="Rectangle 78"/>
            <p:cNvSpPr/>
            <p:nvPr/>
          </p:nvSpPr>
          <p:spPr>
            <a:xfrm>
              <a:off x="0" y="6096000"/>
              <a:ext cx="12192000" cy="571500"/>
            </a:xfrm>
            <a:prstGeom prst="rect">
              <a:avLst/>
            </a:prstGeom>
            <a:solidFill>
              <a:srgbClr val="1B2A4A"/>
            </a:solidFill>
            <a:ln>
              <a:noFill/>
            </a:ln>
          </p:spPr>
        </p:sp>
        <p:sp>
          <p:nvSpPr>
            <p:cNvPr id="79" name="Ellipse 79"/>
            <p:cNvSpPr/>
            <p:nvPr/>
          </p:nvSpPr>
          <p:spPr>
            <a:xfrm>
              <a:off x="609600" y="6229350"/>
              <a:ext cx="304800" cy="304800"/>
            </a:xfrm>
            <a:prstGeom prst="ellipse">
              <a:avLst/>
            </a:prstGeom>
            <a:noFill/>
            <a:ln w="23812">
              <a:solidFill>
                <a:srgbClr val="FFFFFF"/>
              </a:solidFill>
            </a:ln>
          </p:spPr>
        </p:sp>
        <p:sp>
          <p:nvSpPr>
            <p:cNvPr id="80" name="Ellipse 80"/>
            <p:cNvSpPr/>
            <p:nvPr/>
          </p:nvSpPr>
          <p:spPr>
            <a:xfrm>
              <a:off x="666750" y="6286500"/>
              <a:ext cx="190500" cy="190500"/>
            </a:xfrm>
            <a:prstGeom prst="ellipse">
              <a:avLst/>
            </a:prstGeom>
            <a:noFill/>
            <a:ln w="19050">
              <a:solidFill>
                <a:srgbClr val="FFFFFF"/>
              </a:solidFill>
            </a:ln>
          </p:spPr>
        </p:sp>
        <p:sp>
          <p:nvSpPr>
            <p:cNvPr id="81" name="Ellipse 81"/>
            <p:cNvSpPr/>
            <p:nvPr/>
          </p:nvSpPr>
          <p:spPr>
            <a:xfrm>
              <a:off x="723900" y="6343650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2" name="Line 82"/>
            <p:cNvSpPr/>
            <p:nvPr/>
          </p:nvSpPr>
          <p:spPr>
            <a:xfrm>
              <a:off x="876300" y="61912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0" y="76200"/>
                  </a:moveTo>
                  <a:lnTo>
                    <a:pt x="76200" y="0"/>
                  </a:lnTo>
                </a:path>
              </a:pathLst>
            </a:custGeom>
            <a:noFill/>
            <a:ln w="23812" cap="rnd">
              <a:solidFill>
                <a:srgbClr val="FFFFFF"/>
              </a:solidFill>
            </a:ln>
          </p:spPr>
        </p:sp>
        <p:sp>
          <p:nvSpPr>
            <p:cNvPr id="83" name="Polygon 83"/>
            <p:cNvSpPr/>
            <p:nvPr/>
          </p:nvSpPr>
          <p:spPr>
            <a:xfrm>
              <a:off x="933450" y="6172200"/>
              <a:ext cx="38100" cy="76200"/>
            </a:xfrm>
            <a:custGeom>
              <a:avLst/>
              <a:gdLst/>
              <a:ahLst/>
              <a:cxnLst/>
              <a:rect l="l" t="t" r="r" b="b"/>
              <a:pathLst>
                <a:path w="38100" h="76200">
                  <a:moveTo>
                    <a:pt x="0" y="0"/>
                  </a:moveTo>
                  <a:lnTo>
                    <a:pt x="38100" y="38100"/>
                  </a:lnTo>
                  <a:lnTo>
                    <a:pt x="19050" y="7620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84" name="Line 84"/>
            <p:cNvSpPr/>
            <p:nvPr/>
          </p:nvSpPr>
          <p:spPr>
            <a:xfrm>
              <a:off x="1047750" y="6238875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19050">
              <a:solidFill>
                <a:srgbClr val="FFFFFF">
                  <a:alpha val="50000"/>
                </a:srgbClr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227582" y="6231255"/>
              <a:ext cx="7219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可编辑的本质：重建对象，不是把整页图片放进 PPT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2026-07-06T09:52:56Z</dcterms:created>
  <dcterms:modified xsi:type="dcterms:W3CDTF">2026-07-06T09:52:56Z</dcterms:modified>
  <cp:category/>
  <cp:contentStatus/>
</cp:coreProperties>
</file>